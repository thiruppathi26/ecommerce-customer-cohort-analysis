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1B8C-88C4-41C7-B3A3-384D06B97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484AA-A240-42E3-81AF-11CD4B60A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281CD-275E-4281-81F1-4BE1F578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99622-14B0-4FBC-84FF-FB5FB9123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E8A75-5CB4-4DEA-BBA8-D935DCE3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D0BB-97E8-4991-98A5-F23A171C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F211-8EF8-46EF-B111-CE0DF8603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31C57-B324-4F37-BB9C-FE577281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0219F-74C0-4F7C-B94F-8253C69D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2C0B-1FF0-40B9-BAF7-A3D247EE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3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C102-97E5-4796-AF5B-94137FA4B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A7686-B9D0-4994-A9B4-7392EB9F5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DD3F9-918D-40E1-B554-AE7F361E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DA61-06E3-41DF-B527-081276F1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47E5D-7352-4FB9-9126-A354D936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6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7EAF-3311-4F32-A913-3FB9706A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8318-3E04-478A-9EC6-4F595695C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E7F99-88AF-4B84-852D-5802343E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529EB-AFB9-4D71-A79B-84E5F7A0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DF070-9D47-4EE2-8AC5-69AE9CE5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484F6-6C51-41F6-89E8-2A25AAF8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0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991F-79D0-413F-8728-91D48D7A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3AD67-148D-4AAD-BA05-F5F7D5545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DC13A-F65C-481F-BE1E-BE74C3076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64798-97DB-4884-9E4A-E1B81CA43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C3B90-672F-45A3-8E4B-93845CA7D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E130D-689A-460D-99EA-E5FAA1AA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07D51-A8C6-4AFF-9A48-1F360FAE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42E88C-207F-4341-8CB9-EBF8C315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9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CF97-38E1-4B52-BAB3-95D1CF52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8E180-8D40-4CDE-BC04-F7F25152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F282D-CA67-40B0-B1CD-D5186E19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9AC82-480A-474D-A52D-2F7D335C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F7CC0-E19E-4FBF-A6CA-83A6DD19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0B36B-F1FF-4D0F-93A2-F5B22A5A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C5B39-85EE-4E86-B726-94A2D433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1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E348-ED83-4192-AF0F-179CFACA0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A465D-2B86-4DD5-A6A9-F7918C943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21447-3293-4B68-9C99-574474A38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16239-2204-4974-8A3C-58C9045C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66E89-1808-4D0A-88A3-4F33A206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BDD92-4BB4-4564-B726-CFDA1712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5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8C49-7A87-47F8-89E4-445FF75F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8FFE14-E78E-47D6-9E94-559063A83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114E7-2F82-4175-AC7A-0E9FECB97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2D3FD-CC59-48D7-BC7A-DAFDEDAA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9C2E8-7F7D-4A44-B626-6F61811A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AD61C-4ABA-4814-B905-9EBF3939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18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2BD84-27D8-446B-BC6C-3F1F117A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1C612-D8A6-4538-9F4C-0992B7E10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415D-6072-4765-84A2-1E001255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E0629-6BBE-481C-9146-8CB0C477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1D6BF-3DF0-4104-885B-B1AC87DA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1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65D1F-FCD2-42F2-9A71-CA2BCF883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49002-F22A-4EDD-96B6-F93677003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450E-1CDB-4814-BC79-093EE2C9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BE2A8-ADD6-41B5-82B4-E153B320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8BDA3-CE5F-4F07-938C-E4C2B456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1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57FAA5-AAC7-4035-B99A-52F82CF8C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F34D1-6FEF-4C7C-A375-D7B178A58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249AE-2609-4167-B066-6769FF5E5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11CE0-0C74-4253-A8C6-A9BA2D6B64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00FC2-D4FB-412A-A169-C39E0585E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0911-255A-4247-9034-4424EFD8E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9821D-4C3C-4DBA-9FBC-3A2758136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AD58-5A44-4C08-82E7-0A4927424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6704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b="1" dirty="0"/>
              <a:t>E-commerce Customer Cohort Analysis</a:t>
            </a:r>
            <a:br>
              <a:rPr lang="en-US" sz="4400" b="1" dirty="0"/>
            </a:br>
            <a:r>
              <a:rPr lang="en-US" sz="4400" b="1" dirty="0"/>
              <a:t>Understanding Customer Retention and Lifetime Value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B2771-E5B7-4CA5-9CD3-CAF2EA2B7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3057" y="5573655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dirty="0"/>
              <a:t>Thiruppathi V</a:t>
            </a:r>
            <a:br>
              <a:rPr lang="en-US" sz="2000" dirty="0"/>
            </a:br>
            <a:r>
              <a:rPr lang="en-US" sz="2000" dirty="0"/>
              <a:t>Data Analytics Project</a:t>
            </a:r>
            <a:br>
              <a:rPr lang="en-US" sz="2000" dirty="0"/>
            </a:br>
            <a:r>
              <a:rPr lang="en-US" sz="2000" dirty="0"/>
              <a:t>Tools: SQL | Google </a:t>
            </a:r>
            <a:r>
              <a:rPr lang="en-US" sz="2000" dirty="0" err="1"/>
              <a:t>BigQuery</a:t>
            </a:r>
            <a:r>
              <a:rPr lang="en-US" sz="2000" dirty="0"/>
              <a:t> | Power BI | DAX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4F295-2C3A-4A89-86F1-7FE36E8BB1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534" y="260860"/>
            <a:ext cx="8128932" cy="541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2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8E90-9119-4B46-9DEE-BA0C68F8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347"/>
            <a:ext cx="10515600" cy="1325563"/>
          </a:xfrm>
        </p:spPr>
        <p:txBody>
          <a:bodyPr/>
          <a:lstStyle/>
          <a:p>
            <a:r>
              <a:rPr lang="en-US" u="sng" dirty="0"/>
              <a:t>Business Context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65532-E235-4C9C-8B92-B803A2AAB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E-commerce businesses acquire thousands of customers every month, but many customers never return after their first purchase.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Without understanding customer retention patterns, companies risk: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600" b="1" dirty="0"/>
              <a:t>• Losing customers after the first purchase</a:t>
            </a:r>
            <a:br>
              <a:rPr lang="en-US" sz="1600" b="1" dirty="0"/>
            </a:br>
            <a:r>
              <a:rPr lang="en-US" sz="1600" b="1" dirty="0"/>
              <a:t>• Spending heavily on acquisition with low long-term value</a:t>
            </a:r>
            <a:br>
              <a:rPr lang="en-US" sz="1600" b="1" dirty="0"/>
            </a:br>
            <a:r>
              <a:rPr lang="en-US" sz="1600" b="1" dirty="0"/>
              <a:t>• Missing opportunities to improve repeat purchases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To address this problem, I conducted a cohort-based customer behavior analysis to evaluate retention patterns and long-term customer value.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66FF3-3D63-483B-8558-112C811916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2625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32362-6977-485C-8FBC-4346FE84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Business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14FAE8-B070-48EB-86F8-8BDE16EAB0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9202" y="1238882"/>
            <a:ext cx="8280633" cy="6041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The company wants to understand: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	• How many customers return after their first purchase</a:t>
            </a:r>
            <a:br>
              <a:rPr lang="en-US" sz="2000" dirty="0"/>
            </a:br>
            <a:r>
              <a:rPr lang="en-US" sz="2000" dirty="0"/>
              <a:t>	• Which customer cohorts generate the most revenue</a:t>
            </a:r>
            <a:br>
              <a:rPr lang="en-US" sz="2000" dirty="0"/>
            </a:br>
            <a:r>
              <a:rPr lang="en-US" sz="2000" dirty="0"/>
              <a:t>	• How customer retention evolves over time</a:t>
            </a:r>
            <a:br>
              <a:rPr lang="en-US" sz="2000" dirty="0"/>
            </a:br>
            <a:r>
              <a:rPr lang="en-US" sz="2000" dirty="0"/>
              <a:t>	• What factors influence long-term customer value</a:t>
            </a:r>
          </a:p>
          <a:p>
            <a:pPr marL="0" indent="0">
              <a:buNone/>
            </a:pPr>
            <a:r>
              <a:rPr lang="en-US" sz="2000" b="1" dirty="0"/>
              <a:t> Project Objective :</a:t>
            </a:r>
            <a:endParaRPr lang="en-US" sz="20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Analyze customer retention using cohort analysis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Measure customer lifetime value (CLV)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Identify revenue drivers across categories and regions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Provide actionable recommendations to improve retention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8B9BF-5F18-47B7-89BD-E0EA0C41F7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83888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9BD8-4FAE-4943-B362-6C4A59AE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481"/>
            <a:ext cx="10515600" cy="1325563"/>
          </a:xfrm>
        </p:spPr>
        <p:txBody>
          <a:bodyPr/>
          <a:lstStyle/>
          <a:p>
            <a:r>
              <a:rPr lang="en-US" u="sng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CBFE-A66D-459C-B894-84BF0938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399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/>
              <a:t>Dataset: E-commerce Customer Behavior Dataset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200" dirty="0"/>
              <a:t>The dataset contains transactional data including: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200" dirty="0"/>
              <a:t>• Customer ID</a:t>
            </a:r>
            <a:br>
              <a:rPr lang="en-US" sz="3200" dirty="0"/>
            </a:br>
            <a:r>
              <a:rPr lang="en-US" sz="3200" dirty="0"/>
              <a:t>• Order Date</a:t>
            </a:r>
            <a:br>
              <a:rPr lang="en-US" sz="3200" dirty="0"/>
            </a:br>
            <a:r>
              <a:rPr lang="en-US" sz="3200" dirty="0"/>
              <a:t>• Product Category</a:t>
            </a:r>
            <a:br>
              <a:rPr lang="en-US" sz="3200" dirty="0"/>
            </a:br>
            <a:r>
              <a:rPr lang="en-US" sz="3200" dirty="0"/>
              <a:t>• Order Amount</a:t>
            </a:r>
            <a:br>
              <a:rPr lang="en-US" sz="3200" dirty="0"/>
            </a:br>
            <a:r>
              <a:rPr lang="en-US" sz="3200" dirty="0"/>
              <a:t>• City</a:t>
            </a:r>
            <a:br>
              <a:rPr lang="en-US" sz="3200" dirty="0"/>
            </a:br>
            <a:r>
              <a:rPr lang="en-US" sz="3200" dirty="0"/>
              <a:t>• Payment Method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15873-8C2F-4D83-8A55-E339D4B518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4416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2104-BF74-4391-8D90-68A93C86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F2615-7621-46A7-AC84-9FB025BCF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312" y="1406174"/>
            <a:ext cx="10515600" cy="531340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To prepare the data for analysis, the following steps were performed: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b="1" dirty="0"/>
              <a:t>Data Cleaning</a:t>
            </a:r>
            <a:br>
              <a:rPr lang="en-US" sz="1800" dirty="0"/>
            </a:br>
            <a:r>
              <a:rPr lang="en-US" sz="1800" dirty="0"/>
              <a:t>• Removed inconsistent records</a:t>
            </a:r>
            <a:br>
              <a:rPr lang="en-US" sz="1800" dirty="0"/>
            </a:br>
            <a:r>
              <a:rPr lang="en-US" sz="1800" dirty="0"/>
              <a:t>• Standardized date formats</a:t>
            </a:r>
            <a:br>
              <a:rPr lang="en-US" sz="1800" dirty="0"/>
            </a:br>
            <a:r>
              <a:rPr lang="en-US" sz="1800" dirty="0"/>
              <a:t>• Verified transaction data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b="1" dirty="0"/>
              <a:t>Feature Engineering</a:t>
            </a:r>
            <a:br>
              <a:rPr lang="en-US" sz="1800" dirty="0"/>
            </a:br>
            <a:r>
              <a:rPr lang="en-US" sz="1800" dirty="0"/>
              <a:t>• Created </a:t>
            </a:r>
            <a:r>
              <a:rPr lang="en-US" sz="1800" b="1" dirty="0"/>
              <a:t>Cohort Month</a:t>
            </a:r>
            <a:r>
              <a:rPr lang="en-US" sz="1800" dirty="0"/>
              <a:t> based on the customer’s first purchase</a:t>
            </a:r>
            <a:br>
              <a:rPr lang="en-US" sz="1800" dirty="0"/>
            </a:br>
            <a:r>
              <a:rPr lang="en-US" sz="1800" dirty="0"/>
              <a:t>• Calculated </a:t>
            </a:r>
            <a:r>
              <a:rPr lang="en-US" sz="1800" b="1" dirty="0"/>
              <a:t>Month Index</a:t>
            </a:r>
            <a:r>
              <a:rPr lang="en-US" sz="1800" dirty="0"/>
              <a:t> to track customer activity over time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b="1" dirty="0"/>
              <a:t>Data Modeling</a:t>
            </a:r>
            <a:br>
              <a:rPr lang="en-US" sz="1800" dirty="0"/>
            </a:br>
            <a:r>
              <a:rPr lang="en-US" sz="1800" dirty="0"/>
              <a:t>• Built a Power BI data model for efficient analysis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b="1" dirty="0"/>
              <a:t>Key Metrics Created</a:t>
            </a:r>
            <a:br>
              <a:rPr lang="en-US" sz="1800" dirty="0"/>
            </a:br>
            <a:r>
              <a:rPr lang="en-US" sz="1800" dirty="0"/>
              <a:t>• Customer Retention Rate</a:t>
            </a:r>
            <a:br>
              <a:rPr lang="en-US" sz="1800" dirty="0"/>
            </a:br>
            <a:r>
              <a:rPr lang="en-US" sz="1800" dirty="0"/>
              <a:t>• Repeat Purchase Rate</a:t>
            </a:r>
            <a:br>
              <a:rPr lang="en-US" sz="1800" dirty="0"/>
            </a:br>
            <a:r>
              <a:rPr lang="en-US" sz="1800" dirty="0"/>
              <a:t>• Average Order Value</a:t>
            </a:r>
            <a:br>
              <a:rPr lang="en-US" sz="1800" dirty="0"/>
            </a:br>
            <a:r>
              <a:rPr lang="en-US" sz="1800" dirty="0"/>
              <a:t>• Customer Lifetime Value (CLV)</a:t>
            </a:r>
          </a:p>
          <a:p>
            <a:pPr>
              <a:lnSpc>
                <a:spcPct val="170000"/>
              </a:lnSpc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1149F-FB44-495A-BBCB-EB784BD161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0038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5255-DDF4-433B-A240-34C13049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7EED4-2A23-4CE5-81E8-47884C313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953"/>
            <a:ext cx="10515600" cy="5305018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400" dirty="0"/>
              <a:t>The dashboard provides a comprehensive overview of e-commerce performance.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400" b="1" dirty="0"/>
              <a:t>Key Metrics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400" dirty="0"/>
              <a:t>Total Revenue: $21.78M</a:t>
            </a:r>
            <a:br>
              <a:rPr lang="en-US" sz="1400" dirty="0"/>
            </a:br>
            <a:r>
              <a:rPr lang="en-US" sz="1400" dirty="0"/>
              <a:t>Total Customers: 5000</a:t>
            </a:r>
            <a:br>
              <a:rPr lang="en-US" sz="1400" dirty="0"/>
            </a:br>
            <a:r>
              <a:rPr lang="en-US" sz="1400" dirty="0"/>
              <a:t>Total Orders: 17K</a:t>
            </a:r>
            <a:br>
              <a:rPr lang="en-US" sz="1400" dirty="0"/>
            </a:br>
            <a:r>
              <a:rPr lang="en-US" sz="1400" dirty="0"/>
              <a:t>Average Order Value: $1.28K</a:t>
            </a:r>
            <a:br>
              <a:rPr lang="en-US" sz="1400" dirty="0"/>
            </a:br>
            <a:r>
              <a:rPr lang="en-US" sz="1400" dirty="0"/>
              <a:t>Repeat Purchase Rate: 82%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400" b="1" dirty="0"/>
              <a:t>The dashboard analyzes: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400" dirty="0"/>
              <a:t>• Revenue trends over time</a:t>
            </a:r>
            <a:br>
              <a:rPr lang="en-US" sz="1400" dirty="0"/>
            </a:br>
            <a:r>
              <a:rPr lang="en-US" sz="1400" dirty="0"/>
              <a:t>• Product category performance</a:t>
            </a:r>
            <a:br>
              <a:rPr lang="en-US" sz="1400" dirty="0"/>
            </a:br>
            <a:r>
              <a:rPr lang="en-US" sz="1400" dirty="0"/>
              <a:t>• City-level sales contribution</a:t>
            </a:r>
            <a:br>
              <a:rPr lang="en-US" sz="1400" dirty="0"/>
            </a:br>
            <a:r>
              <a:rPr lang="en-US" sz="1400" dirty="0"/>
              <a:t>• Customer purchase behavior</a:t>
            </a:r>
          </a:p>
          <a:p>
            <a:pPr>
              <a:lnSpc>
                <a:spcPct val="170000"/>
              </a:lnSpc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AEC980-38A2-421C-8A4F-2023414A2F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9022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0805-6700-4062-8B49-82E675D2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Cohort Analysis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393BB-F3F8-4BA4-9EC3-1C0E3E43B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787"/>
            <a:ext cx="10515600" cy="477651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Cohort analysis groups customers based on their </a:t>
            </a:r>
            <a:r>
              <a:rPr lang="en-US" sz="2000" b="1" dirty="0"/>
              <a:t>first purchase month</a:t>
            </a:r>
            <a:r>
              <a:rPr lang="en-US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Each cohort represents customers acquired in a specific month.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The analysis tracks how many customers return in future months.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This helps answer key questions: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• Do customers continue purchasing over time?</a:t>
            </a:r>
            <a:br>
              <a:rPr lang="en-US" sz="2000" dirty="0"/>
            </a:br>
            <a:r>
              <a:rPr lang="en-US" sz="2000" dirty="0"/>
              <a:t>• Which acquisition months bring the most valuable customers?</a:t>
            </a:r>
            <a:br>
              <a:rPr lang="en-US" sz="2000" dirty="0"/>
            </a:br>
            <a:r>
              <a:rPr lang="en-US" sz="2000" dirty="0"/>
              <a:t>• How stable is long-term retention?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This method reveals </a:t>
            </a:r>
            <a:r>
              <a:rPr lang="en-US" sz="2000" b="1" dirty="0"/>
              <a:t>customer lifecycle behavior</a:t>
            </a:r>
            <a:r>
              <a:rPr lang="en-US" sz="2000" dirty="0"/>
              <a:t>, which cannot be seen through simple sales trends.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69AE5-2670-4936-83C5-FE237953C5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3738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BDF0-C573-4529-A555-45FDE60C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Key Insight 1 (Customer Retention)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E4BA5-EF05-4A71-8DDD-6BA6E3994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86"/>
            <a:ext cx="10515600" cy="481006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Customer retention drops significantly after the first purchase.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Retention falls from </a:t>
            </a:r>
            <a:r>
              <a:rPr lang="en-US" sz="2000" b="1" dirty="0"/>
              <a:t>100% in the first month to around 20% in the following months</a:t>
            </a:r>
            <a:r>
              <a:rPr lang="en-US" sz="2000" dirty="0"/>
              <a:t>.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However, retention stabilizes around </a:t>
            </a:r>
            <a:r>
              <a:rPr lang="en-US" sz="2000" b="1" dirty="0"/>
              <a:t>18–22% for long-term customers</a:t>
            </a:r>
            <a:r>
              <a:rPr lang="en-US" sz="2000" dirty="0"/>
              <a:t>.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b="1" dirty="0"/>
              <a:t>Interpretation : 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A small group of customers becomes </a:t>
            </a:r>
            <a:r>
              <a:rPr lang="en-US" sz="2000" b="1" dirty="0"/>
              <a:t>loyal repeat buyers</a:t>
            </a:r>
            <a:r>
              <a:rPr lang="en-US" sz="2000" dirty="0"/>
              <a:t>, contributing to sustained revenue.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This highlights the importance of improving </a:t>
            </a:r>
            <a:r>
              <a:rPr lang="en-US" sz="2000" b="1" dirty="0"/>
              <a:t>first-month retention</a:t>
            </a:r>
            <a:r>
              <a:rPr lang="en-US" sz="2000" dirty="0"/>
              <a:t>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6DB16-B828-4AB1-9B97-22DBA12C1F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6009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2F9A-78CE-4AAC-BF63-222DFFBC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Key Insight 2 (Revenue Drivers)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E44B-EDB6-4558-BC13-FBEBCE7B1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094"/>
            <a:ext cx="10515600" cy="523790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Product category analysis shows that </a:t>
            </a:r>
            <a:r>
              <a:rPr lang="en-US" sz="2000" b="1" dirty="0"/>
              <a:t>Electronics generates the highest revenue share</a:t>
            </a:r>
            <a:r>
              <a:rPr lang="en-US" sz="2000" dirty="0"/>
              <a:t>.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This indicates that the business heavily depends on one category for sales.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b="1" dirty="0"/>
              <a:t>Opportunity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/>
              <a:t>The company could increase revenue by expanding cross-selling strategies into other product categories such as Fashion and Home products.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CD460-838F-4C5C-B78C-11AE177226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18040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D58F-2AAB-4700-9716-781CF953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Key Insight 3 (Customer Value)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211E4-9E22-49D5-AE0F-CD15F3E70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232"/>
            <a:ext cx="10515600" cy="512046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Customer lifetime metrics reveal strong long-term value.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Average Order Value: $1.28K</a:t>
            </a:r>
            <a:br>
              <a:rPr lang="en-US" sz="2000" dirty="0"/>
            </a:br>
            <a:r>
              <a:rPr lang="en-US" sz="2000" dirty="0"/>
              <a:t>Purchase Frequency: 3.41</a:t>
            </a:r>
            <a:br>
              <a:rPr lang="en-US" sz="2000" dirty="0"/>
            </a:br>
            <a:r>
              <a:rPr lang="en-US" sz="2000" dirty="0"/>
              <a:t>Customer Lifetime Value: $24.42K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b="1" dirty="0"/>
              <a:t>Interpretation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Even a small improvement in customer retention could significantly increase total revenue.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For example, increasing retention by just </a:t>
            </a:r>
            <a:r>
              <a:rPr lang="en-US" sz="2000" b="1" dirty="0"/>
              <a:t>5% could lead to substantial revenue growth</a:t>
            </a:r>
            <a:r>
              <a:rPr lang="en-US" sz="2000" dirty="0"/>
              <a:t>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634C81-2D41-48EA-A6D4-C96D976E20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1046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0DB3-6325-400D-A609-BADF7D99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672B-0A9B-4EE7-A658-395EC8E29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785"/>
            <a:ext cx="10515600" cy="48100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Based on the analysis, the following strategies are recommended: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Improve First-Purchase Retention</a:t>
            </a:r>
            <a:br>
              <a:rPr lang="en-US" sz="2000" dirty="0"/>
            </a:br>
            <a:r>
              <a:rPr lang="en-US" sz="2000" dirty="0"/>
              <a:t>Introduce targeted promotions or discounts after the first purchase.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Increase Cross-Selling</a:t>
            </a:r>
            <a:br>
              <a:rPr lang="en-US" sz="2000" dirty="0"/>
            </a:br>
            <a:r>
              <a:rPr lang="en-US" sz="2000" dirty="0"/>
              <a:t>Recommend related products to high-value customers.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Focus on High-Performing Cities</a:t>
            </a:r>
            <a:br>
              <a:rPr lang="en-US" sz="2000" dirty="0"/>
            </a:br>
            <a:r>
              <a:rPr lang="en-US" sz="2000" dirty="0"/>
              <a:t>Allocate marketing budgets toward regions generating the highest revenue.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Introduce Loyalty Programs</a:t>
            </a:r>
            <a:br>
              <a:rPr lang="en-US" sz="2000" dirty="0"/>
            </a:br>
            <a:r>
              <a:rPr lang="en-US" sz="2000" dirty="0"/>
              <a:t>Reward repeat customers to strengthen long-term engagement.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B42EE-82AA-4D84-8C0F-D22B9ED8DF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275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640A-73B1-420B-A9A7-5F5B752F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4E61-ECD9-4203-9A31-27BBD4561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87"/>
            <a:ext cx="10515600" cy="481845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This project demonstrates how </a:t>
            </a:r>
            <a:r>
              <a:rPr lang="en-US" sz="2000" b="1" dirty="0"/>
              <a:t>cohort analysis can uncover valuable insights about customer behavior in e-commerce</a:t>
            </a:r>
            <a:r>
              <a:rPr lang="en-US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The analysis highlights: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• Retention patterns across customer cohorts</a:t>
            </a:r>
            <a:br>
              <a:rPr lang="en-US" sz="2000" dirty="0"/>
            </a:br>
            <a:r>
              <a:rPr lang="en-US" sz="2000" dirty="0"/>
              <a:t>• Key revenue-driving product categories</a:t>
            </a:r>
            <a:br>
              <a:rPr lang="en-US" sz="2000" dirty="0"/>
            </a:br>
            <a:r>
              <a:rPr lang="en-US" sz="2000" dirty="0"/>
              <a:t>• Long-term customer value potential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By leveraging these insights, businesses can: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• Improve customer retention</a:t>
            </a:r>
            <a:br>
              <a:rPr lang="en-US" sz="2000" dirty="0"/>
            </a:br>
            <a:r>
              <a:rPr lang="en-US" sz="2000" dirty="0"/>
              <a:t>• Increase customer lifetime value</a:t>
            </a:r>
            <a:br>
              <a:rPr lang="en-US" sz="2000" dirty="0"/>
            </a:br>
            <a:r>
              <a:rPr lang="en-US" sz="2000" dirty="0"/>
              <a:t>• Make more data-driven marketing decisions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B0C3E-BAC8-4A84-A912-17415B5F19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523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779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E-commerce Customer Cohort Analysis Understanding Customer Retention and Lifetime Value</vt:lpstr>
      <vt:lpstr>Business Context </vt:lpstr>
      <vt:lpstr>Business Problem</vt:lpstr>
      <vt:lpstr>Dataset Overview</vt:lpstr>
      <vt:lpstr>Data Preparation</vt:lpstr>
      <vt:lpstr>Dashboard Overview</vt:lpstr>
      <vt:lpstr>Cohort Analysis Approach</vt:lpstr>
      <vt:lpstr>Key Insight 1 (Customer Retention)</vt:lpstr>
      <vt:lpstr>Key Insight 2 (Revenue Drivers)</vt:lpstr>
      <vt:lpstr>Key Insight 3 (Customer Value)</vt:lpstr>
      <vt:lpstr>Business 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Lifecycle Analysis Cohort, Retention, and Revenue Insights</dc:title>
  <dc:creator>thiruppathi venkatesh</dc:creator>
  <cp:lastModifiedBy>thiruppathi venkatesh</cp:lastModifiedBy>
  <cp:revision>21</cp:revision>
  <dcterms:created xsi:type="dcterms:W3CDTF">2026-03-07T11:02:41Z</dcterms:created>
  <dcterms:modified xsi:type="dcterms:W3CDTF">2026-03-09T09:52:07Z</dcterms:modified>
</cp:coreProperties>
</file>